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8"/>
    <p:sldId id="271" r:id="rId22"/>
    <p:sldId id="272" r:id="rId23"/>
    <p:sldId id="268" r:id="rId19"/>
    <p:sldId id="269" r:id="rId20"/>
    <p:sldId id="270" r:id="rId21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489" autoAdjust="0"/>
  </p:normalViewPr>
  <p:slideViewPr>
    <p:cSldViewPr snapToGrid="0" snapToObjects="1">
      <p:cViewPr varScale="1">
        <p:scale>
          <a:sx n="105" d="100"/>
          <a:sy n="105" d="100"/>
        </p:scale>
        <p:origin x="109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5.xml"/><Relationship Id="rId11" Type="http://schemas.openxmlformats.org/officeDocument/2006/relationships/slide" Target="slides/slide16.xml"/><Relationship Id="rId12" Type="http://schemas.openxmlformats.org/officeDocument/2006/relationships/slide" Target="slides/slide17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9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0.xml"/><Relationship Id="rId23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Per-call latency by stage (n=1 doc, protocol B)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Init (s)</c:v>
                </c:pt>
              </c:strCache>
            </c:strRef>
          </c:tx>
          <c:spPr>
            <a:solidFill>
              <a:srgbClr val="8A8F98"/>
            </a:solidFill>
          </c:spPr>
          <c:cat>
            <c:strRef>
              <c:f>Sheet1!$A$2:$A$4</c:f>
              <c:strCache>
                <c:ptCount val="3"/>
                <c:pt idx="0">
                  <c:v>Keywords
(SecureBERT)</c:v>
                </c:pt>
                <c:pt idx="1">
                  <c:v>Classify
(ModernBERT)</c:v>
                </c:pt>
                <c:pt idx="2">
                  <c:v>Summarize
(Gemma)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1.89</c:v>
                </c:pt>
                <c:pt idx="1">
                  <c:v>1.69</c:v>
                </c:pt>
                <c:pt idx="2">
                  <c:v>1.94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Inference (s)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Sheet1!$A$2:$A$4</c:f>
              <c:strCache>
                <c:ptCount val="3"/>
                <c:pt idx="0">
                  <c:v>Keywords
(SecureBERT)</c:v>
                </c:pt>
                <c:pt idx="1">
                  <c:v>Classify
(ModernBERT)</c:v>
                </c:pt>
                <c:pt idx="2">
                  <c:v>Summarize
(Gemma)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1.58</c:v>
                </c:pt>
                <c:pt idx="1">
                  <c:v>8.77</c:v>
                </c:pt>
                <c:pt idx="2">
                  <c:v>2.02</c:v>
                </c:pt>
              </c:numCache>
            </c:numRef>
          </c:val>
        </c:ser>
        <c:dLbls>
          <c:numFmt formatCode="0.00&quot;s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000"/>
                  <a:t>Seconds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Total time per document (s), n=5 shared documents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time (s)</c:v>
                </c:pt>
              </c:strCache>
            </c:strRef>
          </c:tx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8A8F98"/>
              </a:solidFill>
            </c:spPr>
          </c:dPt>
          <c:dPt>
            <c:idx val="2"/>
            <c:spPr>
              <a:solidFill>
                <a:srgbClr val="02C39A"/>
              </a:solidFill>
            </c:spPr>
          </c:dPt>
          <c:dPt>
            <c:idx val="3"/>
            <c:spPr>
              <a:solidFill>
                <a:srgbClr val="02C39A"/>
              </a:solidFill>
            </c:spPr>
          </c:dPt>
          <c:dPt>
            <c:idx val="4"/>
            <c:spPr>
              <a:solidFill>
                <a:srgbClr val="02C39A"/>
              </a:solidFill>
            </c:spPr>
          </c:dPt>
          <c:cat>
            <c:strRef>
              <c:f>Sheet1!$A$2:$A$4</c:f>
              <c:strCache>
                <c:ptCount val="3"/>
                <c:pt idx="0">
                  <c:v>Denzel</c:v>
                </c:pt>
                <c:pt idx="1">
                  <c:v>CPU</c:v>
                </c:pt>
                <c:pt idx="2">
                  <c:v>GPU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4.9</c:v>
                </c:pt>
                <c:pt idx="1">
                  <c:v>41.7</c:v>
                </c:pt>
                <c:pt idx="2">
                  <c:v>30.4</c:v>
                </c:pt>
              </c:numCache>
            </c:numRef>
          </c:val>
        </c:ser>
        <c:dLbls>
          <c:numFmt formatCode="0.0&quot;s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rPr sz="1000"/>
                  <a:t>Seconds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4C585D-FCB7-43B4-B0DA-124A1B49FC13}" type="datetimeFigureOut">
              <a:rPr lang="en-SG" smtClean="0"/>
              <a:t>3/9/2026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BA3BD-E442-403F-9E81-9F8C867FE10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60786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557784"/>
            <a:ext cx="2990088" cy="6364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" y="2807208"/>
            <a:ext cx="9966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B8BC"/>
                </a:solidFill>
                <a:latin typeface="Arial"/>
              </a:rPr>
              <a:t>LOCAL CPU NLP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136392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5100" b="1">
                <a:solidFill>
                  <a:srgbClr val="FFFFFF"/>
                </a:solidFill>
                <a:latin typeface="Arial"/>
              </a:rPr>
              <a:t>Encoder Pipeline vs. Single-Call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4133087"/>
            <a:ext cx="978408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E8D3D6"/>
                </a:solidFill>
                <a:latin typeface="Arial"/>
              </a:rPr>
              <a:t>Staged SecureBERT + ModernBERT + Gemma pipeline, benchmarked against Denzel's single-call LLM baseline on CPU and on a 4GB GPU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272784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D8C2C4"/>
                </a:solidFill>
                <a:latin typeface="Courier New"/>
              </a:rPr>
              <a:t>Stephen Baraik   |   Technical Assessment: Local CPU NLP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16459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B0142B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142B"/>
                </a:solidFill>
                <a:latin typeface="Arial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94944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1">
                <a:solidFill>
                  <a:srgbClr val="2A1E23"/>
                </a:solidFill>
                <a:latin typeface="Arial"/>
              </a:rPr>
              <a:t>Can a multi-encoder pipeline replace a single-call LLM, on CPU and on a 4GB GPU?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1016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756A6E"/>
                </a:solidFill>
                <a:latin typeface="Arial"/>
              </a:rPr>
              <a:t>Objectives set by Prof. Yu after reviewing the first pipeline and Denzel's reference code.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508760" cy="35070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" y="1993392"/>
            <a:ext cx="3410712" cy="2103120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2249424"/>
            <a:ext cx="438912" cy="54864"/>
          </a:xfrm>
          <a:prstGeom prst="rect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432304"/>
            <a:ext cx="2898648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1E23"/>
                </a:solidFill>
                <a:latin typeface="Arial"/>
              </a:rPr>
              <a:t>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62656"/>
            <a:ext cx="2898648" cy="95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A343A"/>
                </a:solidFill>
                <a:latin typeface="Arial"/>
              </a:rPr>
              <a:t>Replace one small-LLM call with parallel encoder models (SecureBERT, ModernBERT, spaCy) and measure whether that is actually faster.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78808" y="1993392"/>
            <a:ext cx="3410712" cy="2103120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2249424"/>
            <a:ext cx="438912" cy="54864"/>
          </a:xfrm>
          <a:prstGeom prst="rect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2432304"/>
            <a:ext cx="2898648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1E23"/>
                </a:solidFill>
                <a:latin typeface="Arial"/>
              </a:rPr>
              <a:t>Hardware 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962656"/>
            <a:ext cx="2898648" cy="95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A343A"/>
                </a:solidFill>
                <a:latin typeface="Arial"/>
              </a:rPr>
              <a:t>Test whether a low-end 4GB GPU (GTX 1650) can run the encoders, and whether CPU parallelisation on server-class hardware (Xeon, i9) is worth pursuing next.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44968" y="1993392"/>
            <a:ext cx="3831336" cy="2103120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2249424"/>
            <a:ext cx="438912" cy="54864"/>
          </a:xfrm>
          <a:prstGeom prst="rect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01000" y="2432304"/>
            <a:ext cx="3319272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1E23"/>
                </a:solidFill>
                <a:latin typeface="Arial"/>
              </a:rPr>
              <a:t>Fair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962656"/>
            <a:ext cx="3319272" cy="95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A343A"/>
                </a:solidFill>
                <a:latin typeface="Arial"/>
              </a:rPr>
              <a:t>Benchmark the encoder pipeline against Denzel's single-call LLM under matched page-1 and full-document input, on CPU and GPU.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4736592"/>
            <a:ext cx="10963656" cy="850392"/>
          </a:xfrm>
          <a:prstGeom prst="roundRect">
            <a:avLst>
              <a:gd name="adj" fmla="val 8000"/>
            </a:avLst>
          </a:prstGeom>
          <a:solidFill>
            <a:srgbClr val="2A1E23"/>
          </a:solidFill>
          <a:ln>
            <a:solidFill>
              <a:srgbClr val="2A1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56032" rIns="256032" bIns="256032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Decision this should support: is the added engineering cost of the encoder pipeline worth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16459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B0142B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142B"/>
                </a:solidFill>
                <a:latin typeface="Arial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94944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A1E23"/>
                </a:solidFill>
                <a:latin typeface="Arial"/>
              </a:rPr>
              <a:t>Define the baseline and what you are comparing against it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508760" cy="3507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" y="1719072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56A6E"/>
                </a:solidFill>
                <a:latin typeface="Arial"/>
              </a:rPr>
              <a:t>Baseline / Current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719072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0142B"/>
                </a:solidFill>
                <a:latin typeface="Arial"/>
              </a:rPr>
              <a:t>New / Candidate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157984"/>
            <a:ext cx="5074920" cy="65836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2322576"/>
            <a:ext cx="46177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A343A"/>
                </a:solidFill>
                <a:latin typeface="Arial"/>
              </a:rPr>
              <a:t>Denzel: one page, one prompt, one small LLM (Gemma 4 E4B stated; LFM2.5-1.2B configured).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06440" y="2487168"/>
            <a:ext cx="502920" cy="0"/>
          </a:xfrm>
          <a:prstGeom prst="line">
            <a:avLst/>
          </a:prstGeom>
          <a:ln w="25400">
            <a:solidFill>
              <a:srgbClr val="E817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92240" y="2157984"/>
            <a:ext cx="5074920" cy="65836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9984" y="2322576"/>
            <a:ext cx="460857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A343A"/>
                </a:solidFill>
                <a:latin typeface="Arial"/>
              </a:rPr>
              <a:t>Staged pipeline: SecureBERT+KeyBERT, ModernBERT zero-shot, spaCy filter, Gemma 4 E2B (q4_0) summary.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099816"/>
            <a:ext cx="5074920" cy="65836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3264408"/>
            <a:ext cx="46177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A343A"/>
                </a:solidFill>
                <a:latin typeface="Arial"/>
              </a:rPr>
              <a:t>Page-1 only; no keyphrases or classification; O(n^2) extractor; retry timing undercounts.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06440" y="3429000"/>
            <a:ext cx="502920" cy="0"/>
          </a:xfrm>
          <a:prstGeom prst="line">
            <a:avLst/>
          </a:prstGeom>
          <a:ln w="25400">
            <a:solidFill>
              <a:srgbClr val="E817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92240" y="3099816"/>
            <a:ext cx="5074920" cy="65836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9984" y="3264408"/>
            <a:ext cx="460857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A343A"/>
                </a:solidFill>
                <a:latin typeface="Arial"/>
              </a:rPr>
              <a:t>Full-document extraction, --match-denzel page-1 mode, per-stage timing, one --device flag.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4041648"/>
            <a:ext cx="5074920" cy="65836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4206240"/>
            <a:ext cx="46177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A343A"/>
                </a:solidFill>
                <a:latin typeface="Arial"/>
              </a:rPr>
              <a:t>Ryzen 5 5600H, 6 cores/12 threads, 16GB RAM, GTX 1650 4GB VRAM (Turing, no bf16).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06440" y="4370832"/>
            <a:ext cx="502920" cy="0"/>
          </a:xfrm>
          <a:prstGeom prst="line">
            <a:avLst/>
          </a:prstGeom>
          <a:ln w="25400">
            <a:solidFill>
              <a:srgbClr val="E817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92240" y="4041648"/>
            <a:ext cx="5074920" cy="65836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9984" y="4206240"/>
            <a:ext cx="460857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A343A"/>
                </a:solidFill>
                <a:latin typeface="Arial"/>
              </a:rPr>
              <a:t>Total time, per-stage latency, peak RAM/VRAM, label agreement, on 5 shared documents.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5843016"/>
            <a:ext cx="9966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756A6E"/>
                </a:solidFill>
                <a:latin typeface="Arial"/>
              </a:rPr>
              <a:t>Both pipelines ran on the same 5 documents and the same machine.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16459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B0142B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142B"/>
                </a:solidFill>
                <a:latin typeface="Arial"/>
              </a:rPr>
              <a:t>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94944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1">
                <a:solidFill>
                  <a:srgbClr val="2A1E23"/>
                </a:solidFill>
                <a:latin typeface="Arial"/>
              </a:rPr>
              <a:t>How did you carry out the evaluation?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1016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756A6E"/>
                </a:solidFill>
                <a:latin typeface="Arial"/>
              </a:rPr>
              <a:t>Three passes: fix the starter code, build the pipeline, benchmark it.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508760" cy="35070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" y="1938528"/>
            <a:ext cx="3346704" cy="253288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2167128"/>
            <a:ext cx="475488" cy="475488"/>
          </a:xfrm>
          <a:prstGeom prst="ellipse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70632"/>
            <a:ext cx="283464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1E23"/>
                </a:solidFill>
                <a:latin typeface="Arial"/>
              </a:rPr>
              <a:t>Validate &amp; 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00984"/>
            <a:ext cx="2834640" cy="9875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A343A"/>
                </a:solidFill>
                <a:latin typeface="Arial"/>
              </a:rPr>
              <a:t>Ran the starter code, found the CountVectorizer newline bug and the fixed-width lookbehind crash in the suggested regex splitter, fixed both.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9663" y="1938528"/>
            <a:ext cx="3346704" cy="253288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425696" y="2167128"/>
            <a:ext cx="475488" cy="475488"/>
          </a:xfrm>
          <a:prstGeom prst="ellipse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5696" y="2770632"/>
            <a:ext cx="283464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1E23"/>
                </a:solidFill>
                <a:latin typeface="Arial"/>
              </a:rPr>
              <a:t>Build the staged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3300984"/>
            <a:ext cx="2834640" cy="9875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A343A"/>
                </a:solidFill>
                <a:latin typeface="Arial"/>
              </a:rPr>
              <a:t>Wired SecureBERT+KeyBERT, ModernBERT zero-shot, spaCy sentencizer, and Gemma 4 E2B (llama.cpp q4_0) behind one --device cpu|cuda flag.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938528"/>
            <a:ext cx="3849624" cy="253288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982711" y="2167128"/>
            <a:ext cx="475488" cy="475488"/>
          </a:xfrm>
          <a:prstGeom prst="ellipse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2711" y="2770632"/>
            <a:ext cx="33375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1E23"/>
                </a:solidFill>
                <a:latin typeface="Arial"/>
              </a:rPr>
              <a:t>Benchmark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2711" y="3300984"/>
            <a:ext cx="3337560" cy="9875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A343A"/>
                </a:solidFill>
                <a:latin typeface="Arial"/>
              </a:rPr>
              <a:t>Ran Protocol A/B timing on CPU and GPU, matched Denzel's page-1 input, and compared total and per-stage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010912"/>
            <a:ext cx="10963656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B0142B"/>
                </a:solidFill>
                <a:latin typeface="Arial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16459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B0142B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142B"/>
                </a:solidFill>
                <a:latin typeface="Arial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94944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A1E23"/>
                </a:solidFill>
                <a:latin typeface="Arial"/>
              </a:rPr>
              <a:t>Describe the workflow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508760" cy="35070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2121408"/>
            <a:ext cx="1709928" cy="193852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2920" y="2258568"/>
            <a:ext cx="384048" cy="384048"/>
          </a:xfrm>
          <a:prstGeom prst="ellipse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70632"/>
            <a:ext cx="143560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A1E23"/>
                </a:solidFill>
                <a:latin typeface="Arial"/>
              </a:rPr>
              <a:t>Extract &amp;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36976"/>
            <a:ext cx="1435608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3A343A"/>
                </a:solidFill>
                <a:latin typeface="Arial"/>
              </a:rPr>
              <a:t>PyMuPDF extraction; 3-rule rejection on cleaned text.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84831" y="3081528"/>
            <a:ext cx="182881" cy="0"/>
          </a:xfrm>
          <a:prstGeom prst="line">
            <a:avLst/>
          </a:prstGeom>
          <a:ln w="25400">
            <a:solidFill>
              <a:srgbClr val="E817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04288" y="2121408"/>
            <a:ext cx="1709928" cy="193852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41448" y="2258568"/>
            <a:ext cx="384048" cy="384048"/>
          </a:xfrm>
          <a:prstGeom prst="ellipse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2770632"/>
            <a:ext cx="143560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A1E23"/>
                </a:solidFill>
                <a:latin typeface="Arial"/>
              </a:rPr>
              <a:t>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3236976"/>
            <a:ext cx="1435608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3A343A"/>
                </a:solidFill>
                <a:latin typeface="Arial"/>
              </a:rPr>
              <a:t>Boilerplate strip, block scoring, title split.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23360" y="3081528"/>
            <a:ext cx="182880" cy="0"/>
          </a:xfrm>
          <a:prstGeom prst="line">
            <a:avLst/>
          </a:prstGeom>
          <a:ln w="25400">
            <a:solidFill>
              <a:srgbClr val="E817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42816" y="2121408"/>
            <a:ext cx="1709928" cy="193852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379976" y="2258568"/>
            <a:ext cx="384048" cy="384048"/>
          </a:xfrm>
          <a:prstGeom prst="ellipse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6" y="2770632"/>
            <a:ext cx="143560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A1E23"/>
                </a:solidFill>
                <a:latin typeface="Arial"/>
              </a:rPr>
              <a:t>Keywords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3236976"/>
            <a:ext cx="1435608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3A343A"/>
                </a:solidFill>
                <a:latin typeface="Arial"/>
              </a:rPr>
              <a:t>SecureBERT (mean-pooled) + KeyBERT, regex-segmented.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61888" y="3081528"/>
            <a:ext cx="182880" cy="0"/>
          </a:xfrm>
          <a:prstGeom prst="line">
            <a:avLst/>
          </a:prstGeom>
          <a:ln w="25400">
            <a:solidFill>
              <a:srgbClr val="E817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81344" y="2121408"/>
            <a:ext cx="1709928" cy="193852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18504" y="2258568"/>
            <a:ext cx="384048" cy="384048"/>
          </a:xfrm>
          <a:prstGeom prst="ellipse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2770632"/>
            <a:ext cx="143560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A1E23"/>
                </a:solidFill>
                <a:latin typeface="Arial"/>
              </a:rPr>
              <a:t>Classify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3236976"/>
            <a:ext cx="1435608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3A343A"/>
                </a:solidFill>
                <a:latin typeface="Arial"/>
              </a:rPr>
              <a:t>ModernBERT zero-shot, 3 labels, windowed for length.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00416" y="3081528"/>
            <a:ext cx="182880" cy="0"/>
          </a:xfrm>
          <a:prstGeom prst="line">
            <a:avLst/>
          </a:prstGeom>
          <a:ln w="25400">
            <a:solidFill>
              <a:srgbClr val="E817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19872" y="2121408"/>
            <a:ext cx="1709928" cy="193852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257032" y="2258568"/>
            <a:ext cx="384048" cy="384048"/>
          </a:xfrm>
          <a:prstGeom prst="ellipse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2770632"/>
            <a:ext cx="143560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A1E23"/>
                </a:solidFill>
                <a:latin typeface="Arial"/>
              </a:rPr>
              <a:t>Summarize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2" y="3236976"/>
            <a:ext cx="1435608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3A343A"/>
                </a:solidFill>
                <a:latin typeface="Arial"/>
              </a:rPr>
              <a:t>spaCy filter into Gemma 4 E2B, injection-guarded.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838944" y="3081528"/>
            <a:ext cx="182880" cy="0"/>
          </a:xfrm>
          <a:prstGeom prst="line">
            <a:avLst/>
          </a:prstGeom>
          <a:ln w="25400">
            <a:solidFill>
              <a:srgbClr val="E817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058400" y="2121408"/>
            <a:ext cx="1709928" cy="193852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195560" y="2258568"/>
            <a:ext cx="384048" cy="384048"/>
          </a:xfrm>
          <a:prstGeom prst="ellipse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2770632"/>
            <a:ext cx="143560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A1E23"/>
                </a:solidFill>
                <a:latin typeface="Arial"/>
              </a:rPr>
              <a:t>Benchmark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3236976"/>
            <a:ext cx="1435608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3A343A"/>
                </a:solidFill>
                <a:latin typeface="Arial"/>
              </a:rPr>
              <a:t>CPU vs. GPU vs. Denzel's single-call baseline.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" y="4681728"/>
            <a:ext cx="10963656" cy="868680"/>
          </a:xfrm>
          <a:prstGeom prst="roundRect">
            <a:avLst>
              <a:gd name="adj" fmla="val 8000"/>
            </a:avLst>
          </a:prstGeom>
          <a:solidFill>
            <a:srgbClr val="FFEBEF"/>
          </a:solidFill>
          <a:ln>
            <a:solidFill>
              <a:srgbClr val="FF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5256" y="4910328"/>
            <a:ext cx="1037844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2A1E23"/>
                </a:solidFill>
                <a:latin typeface="Arial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16459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B0142B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142B"/>
                </a:solidFill>
                <a:latin typeface="Arial"/>
              </a:rPr>
              <a:t>TEST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94944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A1E23"/>
                </a:solidFill>
                <a:latin typeface="Arial"/>
              </a:rPr>
              <a:t>What did you test or measure?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508760" cy="35070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2648" y="1481328"/>
            <a:ext cx="3191256" cy="1737360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944368" y="1645920"/>
            <a:ext cx="630936" cy="246888"/>
          </a:xfrm>
          <a:prstGeom prst="roundRect">
            <a:avLst>
              <a:gd name="adj" fmla="val 8000"/>
            </a:avLst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AREA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1E23"/>
                </a:solidFill>
                <a:latin typeface="Arial"/>
              </a:rPr>
              <a:t>PDF 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03704"/>
            <a:ext cx="267919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3A343A"/>
                </a:solidFill>
                <a:latin typeface="Arial"/>
              </a:rPr>
              <a:t>9/15 accepted, 6/15 rejected, all six on the word-count floor rule.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648" y="1481328"/>
            <a:ext cx="3191256" cy="1737360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73368" y="1645920"/>
            <a:ext cx="630936" cy="246888"/>
          </a:xfrm>
          <a:prstGeom prst="roundRect">
            <a:avLst>
              <a:gd name="adj" fmla="val 8000"/>
            </a:avLst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AREA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73736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1E23"/>
                </a:solidFill>
                <a:latin typeface="Arial"/>
              </a:rPr>
              <a:t>SecureBERT + KeyBERT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03704"/>
            <a:ext cx="267919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3A343A"/>
                </a:solidFill>
                <a:latin typeface="Arial"/>
              </a:rPr>
              <a:t>Masked-mean pooling; regex-segmented candidates fix cross-boundary bigrams.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70648" y="1481328"/>
            <a:ext cx="3191256" cy="1737360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802367" y="1645920"/>
            <a:ext cx="630936" cy="246888"/>
          </a:xfrm>
          <a:prstGeom prst="roundRect">
            <a:avLst>
              <a:gd name="adj" fmla="val 8000"/>
            </a:avLst>
          </a:prstGeom>
          <a:solidFill>
            <a:srgbClr val="2A1E23"/>
          </a:solidFill>
          <a:ln>
            <a:solidFill>
              <a:srgbClr val="2A1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AREA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173736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1E23"/>
                </a:solidFill>
                <a:latin typeface="Arial"/>
              </a:rPr>
              <a:t>Long documents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203704"/>
            <a:ext cx="267919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3A343A"/>
                </a:solidFill>
                <a:latin typeface="Arial"/>
              </a:rPr>
              <a:t>384-token overlapping windows; full doc vs. page 1 gave 0 accept/reject changes, 1/9 label changes.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3703320"/>
            <a:ext cx="3191256" cy="1737360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944368" y="3867911"/>
            <a:ext cx="630936" cy="246888"/>
          </a:xfrm>
          <a:prstGeom prst="roundRect">
            <a:avLst>
              <a:gd name="adj" fmla="val 8000"/>
            </a:avLst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AREA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5935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1E23"/>
                </a:solidFill>
                <a:latin typeface="Arial"/>
              </a:rPr>
              <a:t>Summarization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25696"/>
            <a:ext cx="267919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3A343A"/>
                </a:solidFill>
                <a:latin typeface="Arial"/>
              </a:rPr>
              <a:t>spaCy sentencizer + keyword-matched sentences, 2000-char budget, Gemma q4_0 on CPU.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41648" y="3703320"/>
            <a:ext cx="3191256" cy="1737360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73368" y="3867911"/>
            <a:ext cx="630936" cy="246888"/>
          </a:xfrm>
          <a:prstGeom prst="roundRect">
            <a:avLst>
              <a:gd name="adj" fmla="val 8000"/>
            </a:avLst>
          </a:prstGeom>
          <a:solidFill>
            <a:srgbClr val="2A1E23"/>
          </a:solidFill>
          <a:ln>
            <a:solidFill>
              <a:srgbClr val="2A1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AREA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95935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1E23"/>
                </a:solidFill>
                <a:latin typeface="Arial"/>
              </a:rPr>
              <a:t>Untrusted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425696"/>
            <a:ext cx="267919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3A343A"/>
                </a:solidFill>
                <a:latin typeface="Arial"/>
              </a:rPr>
              <a:t>Fenced source + output guard; tested against a real injection payload -- blocked.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3703320"/>
            <a:ext cx="3191256" cy="1737360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802367" y="3867911"/>
            <a:ext cx="630936" cy="246888"/>
          </a:xfrm>
          <a:prstGeom prst="roundRect">
            <a:avLst>
              <a:gd name="adj" fmla="val 8000"/>
            </a:avLst>
          </a:prstGeom>
          <a:solidFill>
            <a:srgbClr val="2A1E23"/>
          </a:solidFill>
          <a:ln>
            <a:solidFill>
              <a:srgbClr val="2A1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AREA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395935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1E23"/>
                </a:solidFill>
                <a:latin typeface="Arial"/>
              </a:rPr>
              <a:t>CPU &amp; GPU benchmarking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4425696"/>
            <a:ext cx="267919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3A343A"/>
                </a:solidFill>
                <a:latin typeface="Arial"/>
              </a:rPr>
              <a:t>Protocol A/B on a 6-core CPU and a GTX 1650 4GB GPU, vs. Denzel's baseline.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16459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B0142B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142B"/>
                </a:solidFill>
                <a:latin typeface="Arial"/>
              </a:rPr>
              <a:t>IMPLEMENTATION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94944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A1E23"/>
                </a:solidFill>
                <a:latin typeface="Arial"/>
              </a:rPr>
              <a:t>What did you change, refine or discover?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508760" cy="35070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956816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19" y="2139696"/>
            <a:ext cx="438912" cy="438912"/>
          </a:xfrm>
          <a:prstGeom prst="ellipse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724912"/>
            <a:ext cx="2249424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A1E23"/>
                </a:solidFill>
                <a:latin typeface="Arial"/>
              </a:rPr>
              <a:t>Gemma via llama.cpp, not transformers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172968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3A343A"/>
                </a:solidFill>
                <a:latin typeface="Arial"/>
              </a:rPr>
              <a:t>Multimodal in transformers; llama.cpp's q4_0 GGUF is the real CPU path.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64408" y="2962656"/>
            <a:ext cx="384048" cy="0"/>
          </a:xfrm>
          <a:prstGeom prst="line">
            <a:avLst/>
          </a:prstGeom>
          <a:ln w="25400">
            <a:solidFill>
              <a:srgbClr val="E817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49040" y="1956816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913632" y="2139696"/>
            <a:ext cx="438912" cy="438912"/>
          </a:xfrm>
          <a:prstGeom prst="ellipse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0208" y="2724912"/>
            <a:ext cx="2249424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A1E23"/>
                </a:solidFill>
                <a:latin typeface="Arial"/>
              </a:rPr>
              <a:t>Helps ModernBERT, not SecureBERT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3172968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50">
                <a:solidFill>
                  <a:srgbClr val="3A343A"/>
                </a:solidFill>
                <a:latin typeface="Arial"/>
              </a:rPr>
              <a:t>SecureBERT int8 gave 0.74 cosine vs. fp32 (need &gt;=0.99); served as fp32 instead.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46520" y="2950199"/>
            <a:ext cx="384048" cy="0"/>
          </a:xfrm>
          <a:prstGeom prst="line">
            <a:avLst/>
          </a:prstGeom>
          <a:ln w="25400">
            <a:solidFill>
              <a:srgbClr val="E817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931152" y="1956816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095743" y="2139696"/>
            <a:ext cx="438912" cy="438912"/>
          </a:xfrm>
          <a:prstGeom prst="ellipse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19" y="2724912"/>
            <a:ext cx="2249424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A1E23"/>
                </a:solidFill>
                <a:latin typeface="Arial"/>
              </a:rPr>
              <a:t>Regex splitter needed a rewrite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3172968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3A343A"/>
                </a:solidFill>
                <a:latin typeface="Arial"/>
              </a:rPr>
              <a:t>Merged-alternation lookbehind crashes on fixed-width; chained lookbehinds fixed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76688" y="1956816"/>
            <a:ext cx="1399032" cy="2011680"/>
          </a:xfrm>
          <a:prstGeom prst="roundRect">
            <a:avLst>
              <a:gd name="adj" fmla="val 8000"/>
            </a:avLst>
          </a:prstGeom>
          <a:solidFill>
            <a:srgbClr val="209165"/>
          </a:solidFill>
          <a:ln>
            <a:solidFill>
              <a:srgbClr val="2091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86416" y="2386584"/>
            <a:ext cx="1179576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FINAL / SELECTED 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6416" y="2916936"/>
            <a:ext cx="1179576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Full-doc extraction, injection guard on by default, --device cpu|cuda flag.</a:t>
            </a:r>
          </a:p>
        </p:txBody>
      </p:sp>
      <p:cxnSp>
        <p:nvCxnSpPr>
          <p:cNvPr id="28" name="Connector 13">
            <a:extLst>
              <a:ext uri="{FF2B5EF4-FFF2-40B4-BE49-F238E27FC236}">
                <a16:creationId xmlns:a16="http://schemas.microsoft.com/office/drawing/2014/main" id="{7CD8002E-A240-DD1C-B226-9BE1A9A95C88}"/>
              </a:ext>
            </a:extLst>
          </p:cNvPr>
          <p:cNvCxnSpPr/>
          <p:nvPr/>
        </p:nvCxnSpPr>
        <p:spPr>
          <a:xfrm>
            <a:off x="9633005" y="2962656"/>
            <a:ext cx="384048" cy="0"/>
          </a:xfrm>
          <a:prstGeom prst="line">
            <a:avLst/>
          </a:prstGeom>
          <a:ln w="25400">
            <a:solidFill>
              <a:srgbClr val="E817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646920" y="16459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B0142B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142B"/>
                </a:solidFill>
                <a:latin typeface="Arial"/>
              </a:rPr>
              <a:t>WHERE THE TIME GOES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94944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A1E23"/>
                </a:solidFill>
                <a:latin typeface="Arial"/>
              </a:rPr>
              <a:t>Per-call latency by stage, not just pipeline totals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1016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756A6E"/>
                </a:solidFill>
                <a:latin typeface="Arial"/>
              </a:rPr>
              <a:t>CPU, Protocol B: one untimed warm-up, three timed runs, median reported (docs/TECHNICAL_REPORT.md, section 8).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508760" cy="350701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12648" y="4500000"/>
            <a:ext cx="10789920" cy="950000"/>
          </a:xfrm>
          <a:prstGeom prst="roundRect">
            <a:avLst>
              <a:gd name="adj" fmla="val 8000"/>
            </a:avLst>
          </a:prstGeom>
          <a:solidFill>
            <a:srgbClr val="EBF8F2"/>
          </a:solidFill>
          <a:ln>
            <a:solidFill>
              <a:srgbClr val="EBF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630000"/>
            <a:ext cx="1027785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209165"/>
                </a:solidFill>
                <a:latin typeface="Arial"/>
              </a:rPr>
              <a:t>KEY 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00000"/>
            <a:ext cx="1027785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3A343A"/>
                </a:solidFill>
                <a:latin typeface="Arial"/>
              </a:rPr>
              <a:t>Classify costs more than keywords + summarize combined -- 3 separate zero-shot passes on ModernBERT-large, one per candidate label, per document.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5559552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A1E23"/>
                </a:solidFill>
                <a:latin typeface="Arial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16459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B0142B"/>
                </a:solidFill>
                <a:latin typeface="Arial"/>
              </a:rPr>
              <a:t/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612648" y="1780000"/>
          <a:ext cx="10789920" cy="26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142B"/>
                </a:solidFill>
                <a:latin typeface="Arial"/>
              </a:rPr>
              <a:t>HEAD-TO-HEAD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94944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A1E23"/>
                </a:solidFill>
                <a:latin typeface="Arial"/>
              </a:rPr>
              <a:t>Denzel vs. our pipeline, CPU and GPU, same 5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1016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756A6E"/>
                </a:solidFill>
                <a:latin typeface="Arial"/>
              </a:rPr>
              <a:t>Protocol A (single pass, no warm-up), page-1 input on all three -- matches Denzel's method exactly.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508760" cy="35070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12648" y="5559552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A1E23"/>
                </a:solidFill>
                <a:latin typeface="Arial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16459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B0142B"/>
                </a:solidFill>
                <a:latin typeface="Arial"/>
              </a:rPr>
              <a:t/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12648" y="1750000"/>
          <a:ext cx="1078992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0"/>
                <a:gridCol w="2200000"/>
                <a:gridCol w="2200000"/>
                <a:gridCol w="2189920"/>
              </a:tblGrid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Total 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vs. Denzel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Denzel (single LLM)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Page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1.0x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Ours -- 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Page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41.7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8.6x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Ours -- 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Page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30.4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6.3x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12648" y="3650000"/>
            <a:ext cx="107899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444444"/>
                </a:solidFill>
              </a:rPr>
              <a:t>GPU is 1.4x faster than CPU on this input (30.4s vs. 41.7s); both remain 6-9x slower than Denzel's single LLM call.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142B"/>
                </a:solidFill>
                <a:latin typeface="Arial"/>
              </a:rPr>
              <a:t>ALL 15 DOCUMENTS, CPU VS. GPU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94944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A1E23"/>
                </a:solidFill>
                <a:latin typeface="Arial"/>
              </a:rPr>
              <a:t>Every document in the corpus, not just the 5 shared with Denzel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1016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756A6E"/>
                </a:solidFill>
                <a:latin typeface="Arial"/>
              </a:rPr>
              <a:t>10 accepted, 5 rejected before any model runs. Protocol A, page-1 input, both devices.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508760" cy="35070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12648" y="5559552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A1E23"/>
                </a:solidFill>
                <a:latin typeface="Arial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16459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B0142B"/>
                </a:solidFill>
                <a:latin typeface="Arial"/>
              </a:rPr>
              <a:t/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12648" y="1750000"/>
          <a:ext cx="11489920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0000"/>
                <a:gridCol w="1500000"/>
                <a:gridCol w="1300000"/>
                <a:gridCol w="1300000"/>
                <a:gridCol w="1289920"/>
              </a:tblGrid>
              <a:tr h="21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Document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CPU (s)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GPU (s)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Speedup</a:t>
                      </a:r>
                    </a:p>
                  </a:txBody>
                  <a:tcPr marT="9144" marB="9144" marL="45720" marR="45720" anchor="ctr"/>
                </a:tc>
              </a:tr>
              <a:tr h="215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</a:rPr>
                        <a:t>cybermagazine.com/.../public-sector-london-council-cyberattack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accepted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59.77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45.74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</a:rPr>
                        <a:t>1.31x</a:t>
                      </a:r>
                    </a:p>
                  </a:txBody>
                  <a:tcPr marT="9144" marB="9144" marL="45720" marR="45720" anchor="ctr"/>
                </a:tc>
              </a:tr>
              <a:tr h="215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</a:rPr>
                        <a:t>blogs.nvidia.com/.../bluefield-cybersecurity-...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accepted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53.64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38.27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</a:rPr>
                        <a:t>1.40x</a:t>
                      </a:r>
                    </a:p>
                  </a:txBody>
                  <a:tcPr marT="9144" marB="9144" marL="45720" marR="45720" anchor="ctr"/>
                </a:tc>
              </a:tr>
              <a:tr h="215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</a:rPr>
                        <a:t>bwawww.testing.pdf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accepted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44.50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31.83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</a:rPr>
                        <a:t>1.40x</a:t>
                      </a:r>
                    </a:p>
                  </a:txBody>
                  <a:tcPr marT="9144" marB="9144" marL="45720" marR="45720" anchor="ctr"/>
                </a:tc>
              </a:tr>
              <a:tr h="215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</a:rPr>
                        <a:t>awww.crowdstrike.com/.../crowdstrike-to-acquire-sgnl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accepted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42.11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31.56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</a:rPr>
                        <a:t>1.33x</a:t>
                      </a:r>
                    </a:p>
                  </a:txBody>
                  <a:tcPr marT="9144" marB="9144" marL="45720" marR="45720" anchor="ctr"/>
                </a:tc>
              </a:tr>
              <a:tr h="215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</a:rPr>
                        <a:t>awww.anthropic.com/research/many-shot-jailbreaking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accepted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35.05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26.12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</a:rPr>
                        <a:t>1.34x</a:t>
                      </a:r>
                    </a:p>
                  </a:txBody>
                  <a:tcPr marT="9144" marB="9144" marL="45720" marR="45720" anchor="ctr"/>
                </a:tc>
              </a:tr>
              <a:tr h="215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</a:rPr>
                        <a:t>calmatters.org/.../california-ai-regulation-...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accepted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34.84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26.19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</a:rPr>
                        <a:t>1.33x</a:t>
                      </a:r>
                    </a:p>
                  </a:txBody>
                  <a:tcPr marT="9144" marB="9144" marL="45720" marR="45720" anchor="ctr"/>
                </a:tc>
              </a:tr>
              <a:tr h="215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</a:rPr>
                        <a:t>blog.freshfields.us/.../ai-supply-chain-and-security-...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accepted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33.39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24.31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</a:rPr>
                        <a:t>1.37x</a:t>
                      </a:r>
                    </a:p>
                  </a:txBody>
                  <a:tcPr marT="9144" marB="9144" marL="45720" marR="45720" anchor="ctr"/>
                </a:tc>
              </a:tr>
              <a:tr h="215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</a:rPr>
                        <a:t>cyber.fsi.stanford.edu/.../regulating-under-uncertainty-...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accepted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32.36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24.95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</a:rPr>
                        <a:t>1.30x</a:t>
                      </a:r>
                    </a:p>
                  </a:txBody>
                  <a:tcPr marT="9144" marB="9144" marL="45720" marR="45720" anchor="ctr"/>
                </a:tc>
              </a:tr>
              <a:tr h="215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</a:rPr>
                        <a:t>cybermagazine.com/.../will-servicenow-armis-deal-reshape-ai-security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accepted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31.87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22.92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</a:rPr>
                        <a:t>1.39x</a:t>
                      </a:r>
                    </a:p>
                  </a:txBody>
                  <a:tcPr marT="9144" marB="9144" marL="45720" marR="45720" anchor="ctr"/>
                </a:tc>
              </a:tr>
              <a:tr h="215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</a:rPr>
                        <a:t>cryptorank.io/.../openai-contractors-upload-real-work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accepted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7.49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</a:rPr>
                        <a:t>5.91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</a:rPr>
                        <a:t>1.27x</a:t>
                      </a:r>
                    </a:p>
                  </a:txBody>
                  <a:tcPr marT="9144" marB="9144" marL="45720" marR="45720" anchor="ctr"/>
                </a:tc>
              </a:tr>
              <a:tr h="215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990011"/>
                          </a:solidFill>
                        </a:rPr>
                        <a:t>www.ncsl.org/technology-and-communication/...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990011"/>
                          </a:solidFill>
                        </a:rPr>
                        <a:t>rejected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990011"/>
                          </a:solidFill>
                        </a:rPr>
                        <a:t>0.03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990011"/>
                          </a:solidFill>
                        </a:rPr>
                        <a:t>0.03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990011"/>
                          </a:solidFill>
                        </a:rPr>
                        <a:t>n/a</a:t>
                      </a:r>
                    </a:p>
                  </a:txBody>
                  <a:tcPr marT="9144" marB="9144" marL="45720" marR="45720" anchor="ctr"/>
                </a:tc>
              </a:tr>
              <a:tr h="215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990011"/>
                          </a:solidFill>
                        </a:rPr>
                        <a:t>www.obiectiv.info/?y-news-...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990011"/>
                          </a:solidFill>
                        </a:rPr>
                        <a:t>rejected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990011"/>
                          </a:solidFill>
                        </a:rPr>
                        <a:t>0.03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990011"/>
                          </a:solidFill>
                        </a:rPr>
                        <a:t>0.03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990011"/>
                          </a:solidFill>
                        </a:rPr>
                        <a:t>n/a</a:t>
                      </a:r>
                    </a:p>
                  </a:txBody>
                  <a:tcPr marT="9144" marB="9144" marL="45720" marR="45720" anchor="ctr"/>
                </a:tc>
              </a:tr>
              <a:tr h="215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990011"/>
                          </a:solidFill>
                        </a:rPr>
                        <a:t>www.congress.gov/crs-product/R48555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990011"/>
                          </a:solidFill>
                        </a:rPr>
                        <a:t>rejected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990011"/>
                          </a:solidFill>
                        </a:rPr>
                        <a:t>0.03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990011"/>
                          </a:solidFill>
                        </a:rPr>
                        <a:t>0.00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990011"/>
                          </a:solidFill>
                        </a:rPr>
                        <a:t>n/a</a:t>
                      </a:r>
                    </a:p>
                  </a:txBody>
                  <a:tcPr marT="9144" marB="9144" marL="45720" marR="45720" anchor="ctr"/>
                </a:tc>
              </a:tr>
              <a:tr h="215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990011"/>
                          </a:solidFill>
                        </a:rPr>
                        <a:t>www.lanl.gov/media/news/0305-ai-adversarial-attacks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990011"/>
                          </a:solidFill>
                        </a:rPr>
                        <a:t>rejected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990011"/>
                          </a:solidFill>
                        </a:rPr>
                        <a:t>0.02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990011"/>
                          </a:solidFill>
                        </a:rPr>
                        <a:t>0.02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990011"/>
                          </a:solidFill>
                        </a:rPr>
                        <a:t>n/a</a:t>
                      </a:r>
                    </a:p>
                  </a:txBody>
                  <a:tcPr marT="9144" marB="9144" marL="45720" marR="45720" anchor="ctr"/>
                </a:tc>
              </a:tr>
              <a:tr h="215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990011"/>
                          </a:solidFill>
                        </a:rPr>
                        <a:t>www.nytimes.com/.../nicolas-maduro-ai-images-deepfakes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990011"/>
                          </a:solidFill>
                        </a:rPr>
                        <a:t>rejected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990011"/>
                          </a:solidFill>
                        </a:rPr>
                        <a:t>0.00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990011"/>
                          </a:solidFill>
                        </a:rPr>
                        <a:t>0.03</a:t>
                      </a:r>
                    </a:p>
                  </a:txBody>
                  <a:tcPr marT="9144" marB="9144"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990011"/>
                          </a:solidFill>
                        </a:rPr>
                        <a:t>n/a</a:t>
                      </a:r>
                    </a:p>
                  </a:txBody>
                  <a:tcPr marT="9144" marB="9144" marL="45720" marR="45720" anchor="ctr"/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12648" y="5290000"/>
            <a:ext cx="1078992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444444"/>
                </a:solidFill>
              </a:rPr>
              <a:t>GPU speedup holds steady at 1.27x-1.40x regardless of document length (51 to 1,541 words) -- fixed per-call overhead, not compute scaling. Rejected documents cost under 0.03s on both devices -- the validation gate fails fast, before any model loads.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142B"/>
                </a:solidFill>
                <a:latin typeface="Arial"/>
              </a:rPr>
              <a:t>DENZEL'S OWN COLUMNS, THREE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94944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A1E23"/>
                </a:solidFill>
                <a:latin typeface="Arial"/>
              </a:rPr>
              <a:t>Their metrics schema, applied to all three runs -- not just our own field names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1016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756A6E"/>
                </a:solidFill>
                <a:latin typeface="Arial"/>
              </a:rPr>
              <a:t>Averages, n=5 shared documents. Their single_turn_time_sec maps to our inference_time_sec (model compute only, per CLAUDE.md).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508760" cy="35070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12648" y="5559552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A1E23"/>
                </a:solidFill>
                <a:latin typeface="Arial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16459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B0142B"/>
                </a:solidFill>
                <a:latin typeface="Arial"/>
              </a:rPr>
              <a:t/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12648" y="1750000"/>
          <a:ext cx="1078992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2200000"/>
                <a:gridCol w="2800000"/>
                <a:gridCol w="1800000"/>
                <a:gridCol w="1000000"/>
                <a:gridCol w="989920"/>
              </a:tblGrid>
              <a:tr h="375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extraction_time_sec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single_turn / inference 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total_time_sec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extracted_chars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extracted_words</a:t>
                      </a:r>
                    </a:p>
                  </a:txBody>
                  <a:tcPr anchor="ctr"/>
                </a:tc>
              </a:tr>
              <a:tr h="3750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</a:rPr>
                        <a:t>Denzel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</a:rPr>
                        <a:t>0.21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</a:rPr>
                        <a:t>4.65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</a:rPr>
                        <a:t>4.86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</a:rPr>
                        <a:t>7,768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</a:rPr>
                        <a:t>1,135</a:t>
                      </a:r>
                    </a:p>
                  </a:txBody>
                  <a:tcPr anchor="ctr"/>
                </a:tc>
              </a:tr>
              <a:tr h="3750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</a:rPr>
                        <a:t>Ours -- 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</a:rPr>
                        <a:t>41.69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</a:rPr>
                        <a:t>41.74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</a:rPr>
                        <a:t>7,716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</a:rPr>
                        <a:t>1,135</a:t>
                      </a:r>
                    </a:p>
                  </a:txBody>
                  <a:tcPr anchor="ctr"/>
                </a:tc>
              </a:tr>
              <a:tr h="3750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</a:rPr>
                        <a:t>Ours -- GPU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</a:rPr>
                        <a:t>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</a:rPr>
                        <a:t>30.37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</a:rPr>
                        <a:t>30.42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</a:rPr>
                        <a:t>7,716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</a:rPr>
                        <a:t>1,135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12648" y="3380000"/>
            <a:ext cx="1078992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-  extracted_words match exactly on all 5 documents -- the page-1 gate reproduces Denzel's input precisely.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-  extracted_chars run ~0.7% lower on ours -- light boilerplate stripping, not aggressive rewriting.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-  Our extractor is ~15x faster (0.01-0.02s vs. 0.21s avg) -- Denzel's incremental extractor re-parses pages 1..n every iteration; ours accumulates.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-  Even isolating model compute alone (their fairest column), ours is still 6.5x-9.0x slower -- the gap is the models, not extraction overhead.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-  injection_llm_flag isn't comparable as shown: Denzel's guard ran and found nothing on all 5; ours defaults off for benchmark speed, so "not checked," not "checked, clean."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142B"/>
                </a:solidFill>
                <a:latin typeface="Arial"/>
              </a:rPr>
              <a:t>THE SAME NUMBERS, AS A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94944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A1E23"/>
                </a:solidFill>
                <a:latin typeface="Arial"/>
              </a:rPr>
              <a:t>Total time per document: Denzel, our CPU run, our GPU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1016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756A6E"/>
                </a:solidFill>
                <a:latin typeface="Arial"/>
              </a:rPr>
              <a:t>Both of ours are still slower than Denzel's single call (n=5 shared docs).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508760" cy="350701"/>
          </a:xfrm>
          <a:prstGeom prst="rect">
            <a:avLst/>
          </a:prstGeom>
        </p:spPr>
      </p:pic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12648" y="1780000"/>
          <a:ext cx="10789920" cy="34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142B"/>
                </a:solidFill>
                <a:latin typeface="Arial"/>
              </a:rPr>
              <a:t>TWO FINDINGS THAT CUT AGAINST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94944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A1E23"/>
                </a:solidFill>
                <a:latin typeface="Arial"/>
              </a:rPr>
              <a:t>Optimizations expected to help, measured instead of assumed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508760" cy="3507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" y="1719072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56A6E"/>
                </a:solidFill>
                <a:latin typeface="Arial"/>
              </a:rPr>
              <a:t>ONNX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719072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0142B"/>
                </a:solidFill>
                <a:latin typeface="Arial"/>
              </a:rPr>
              <a:t>SecureBERT int8 Quantization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157984"/>
            <a:ext cx="5074920" cy="65836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2322576"/>
            <a:ext cx="46177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A343A"/>
                </a:solidFill>
                <a:latin typeface="Arial"/>
              </a:rPr>
              <a:t>Expected faster. Measured +286.6s slower across 9 documents, and it flipped 2/9 predicted labels.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06440" y="2487168"/>
            <a:ext cx="502920" cy="0"/>
          </a:xfrm>
          <a:prstGeom prst="line">
            <a:avLst/>
          </a:prstGeom>
          <a:ln w="25400">
            <a:solidFill>
              <a:srgbClr val="E817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92240" y="2157984"/>
            <a:ext cx="5074920" cy="65836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9984" y="2322576"/>
            <a:ext cx="460857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A343A"/>
                </a:solidFill>
                <a:latin typeface="Arial"/>
              </a:rPr>
              <a:t>Expected similar quality. Measured 0.74 cosine similarity vs. fp32 (need &gt;=0.99).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099816"/>
            <a:ext cx="5074920" cy="65836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3264408"/>
            <a:ext cx="46177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A343A"/>
                </a:solidFill>
                <a:latin typeface="Arial"/>
              </a:rPr>
              <a:t>Likely cause: the zero-shot path scores each candidate label as its own forward pass instead of one batched call.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06440" y="3429000"/>
            <a:ext cx="502920" cy="0"/>
          </a:xfrm>
          <a:prstGeom prst="line">
            <a:avLst/>
          </a:prstGeom>
          <a:ln w="25400">
            <a:solidFill>
              <a:srgbClr val="E817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92240" y="3099816"/>
            <a:ext cx="5074920" cy="65836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9984" y="3264408"/>
            <a:ext cx="460857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A343A"/>
                </a:solidFill>
                <a:latin typeface="Arial"/>
              </a:rPr>
              <a:t>Root cause not yet isolated -- suspected RoPE / local-global attention nodes in this ModernBERT variant.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4041648"/>
            <a:ext cx="5074920" cy="65836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4206240"/>
            <a:ext cx="46177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A343A"/>
                </a:solidFill>
                <a:latin typeface="Arial"/>
              </a:rPr>
              <a:t>Decision: kept the torch backend for zero-shot classification.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06440" y="4370832"/>
            <a:ext cx="502920" cy="0"/>
          </a:xfrm>
          <a:prstGeom prst="line">
            <a:avLst/>
          </a:prstGeom>
          <a:ln w="25400">
            <a:solidFill>
              <a:srgbClr val="E817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92240" y="4041648"/>
            <a:ext cx="5074920" cy="65836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9984" y="4206240"/>
            <a:ext cx="460857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A343A"/>
                </a:solidFill>
                <a:latin typeface="Arial"/>
              </a:rPr>
              <a:t>Decision: served fp32 SecureBERT instead of shipping corrupted keyphrase vectors under a 'faster' flag.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5843016"/>
            <a:ext cx="9966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756A6E"/>
                </a:solidFill>
                <a:latin typeface="Arial"/>
              </a:rPr>
              <a:t>Reported as measured findings, not smoothed over -- an optimization that doesn't help is still a result.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16459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B0142B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142B"/>
                </a:solidFill>
                <a:latin typeface="Arial"/>
              </a:rPr>
              <a:t>QUALITY, NOT JUST SPEED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94944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A1E23"/>
                </a:solidFill>
                <a:latin typeface="Arial"/>
              </a:rPr>
              <a:t>What actually changed when we optimized for speed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508760" cy="35070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2648" y="1481328"/>
            <a:ext cx="3191256" cy="1737360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944368" y="1645920"/>
            <a:ext cx="630936" cy="246888"/>
          </a:xfrm>
          <a:prstGeom prst="roundRect">
            <a:avLst>
              <a:gd name="adj" fmla="val 8000"/>
            </a:avLst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AREA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1E23"/>
                </a:solidFill>
                <a:latin typeface="Arial"/>
              </a:rPr>
              <a:t>Long-doc trade-off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03704"/>
            <a:ext cx="267919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3A343A"/>
                </a:solidFill>
                <a:latin typeface="Arial"/>
              </a:rPr>
              <a:t>Full doc vs. page-1: 0/9 accept-reject changes, 1/9 label change, keyphrase overlap 0.61. Page-1 ran ~106s faster across 9 docs.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648" y="1481328"/>
            <a:ext cx="3191256" cy="1737360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73368" y="1645920"/>
            <a:ext cx="630936" cy="246888"/>
          </a:xfrm>
          <a:prstGeom prst="roundRect">
            <a:avLst>
              <a:gd name="adj" fmla="val 8000"/>
            </a:avLst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AREA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73736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1E23"/>
                </a:solidFill>
                <a:latin typeface="Arial"/>
              </a:rPr>
              <a:t>Injection guard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03704"/>
            <a:ext cx="267919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3A343A"/>
                </a:solidFill>
                <a:latin typeface="Arial"/>
              </a:rPr>
              <a:t>Blocks a real injection payload in testing. Costs ~130s/doc -- mostly a longer prompt, since only 1/9 documents triggered the retry.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70648" y="1481328"/>
            <a:ext cx="3191256" cy="1737360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802367" y="1645920"/>
            <a:ext cx="630936" cy="246888"/>
          </a:xfrm>
          <a:prstGeom prst="roundRect">
            <a:avLst>
              <a:gd name="adj" fmla="val 8000"/>
            </a:avLst>
          </a:prstGeom>
          <a:solidFill>
            <a:srgbClr val="2A1E23"/>
          </a:solidFill>
          <a:ln>
            <a:solidFill>
              <a:srgbClr val="2A1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AREA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173736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1E23"/>
                </a:solidFill>
                <a:latin typeface="Arial"/>
              </a:rPr>
              <a:t>Extraction quality caveat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203704"/>
            <a:ext cx="267919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3A343A"/>
                </a:solidFill>
                <a:latin typeface="Arial"/>
              </a:rPr>
              <a:t>PyMuPDF glues words together on some layouts ('cloudspaletteai'), hurting keyphrase quality on 6/9 accepted documents. Not fixed yet.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16459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B0142B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142B"/>
                </a:solidFill>
                <a:latin typeface="Arial"/>
              </a:rPr>
              <a:t>COMPARISON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94944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A1E23"/>
                </a:solidFill>
                <a:latin typeface="Arial"/>
              </a:rPr>
              <a:t>Baseline versus our pipeline, on the same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1016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756A6E"/>
                </a:solidFill>
                <a:latin typeface="Arial"/>
              </a:rPr>
              <a:t/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508760" cy="35070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" y="1883664"/>
            <a:ext cx="4315968" cy="253288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148840"/>
            <a:ext cx="548640" cy="548640"/>
          </a:xfrm>
          <a:prstGeom prst="ellipse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8" y="2148840"/>
            <a:ext cx="288950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A1E23"/>
                </a:solidFill>
                <a:latin typeface="Arial"/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9504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0142B"/>
                </a:solidFill>
                <a:latin typeface="Arial"/>
              </a:rPr>
              <a:t>One LLM call, page 1 only, no keyphrases or classification.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47288"/>
            <a:ext cx="370332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A343A"/>
                </a:solidFill>
                <a:latin typeface="Arial"/>
              </a:rPr>
              <a:t>4.9s avg total time; single model resident (n=5 shared docs).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9512" y="1883664"/>
            <a:ext cx="4315968" cy="253288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541264" y="2148840"/>
            <a:ext cx="548640" cy="548640"/>
          </a:xfrm>
          <a:prstGeom prst="ellipse">
            <a:avLst/>
          </a:prstGeom>
          <a:solidFill>
            <a:srgbClr val="2A1E23"/>
          </a:solidFill>
          <a:ln>
            <a:solidFill>
              <a:srgbClr val="2A1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148840"/>
            <a:ext cx="288950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A1E23"/>
                </a:solidFill>
                <a:latin typeface="Arial"/>
              </a:rPr>
              <a:t>Revised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41264" y="2889504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0142B"/>
                </a:solidFill>
                <a:latin typeface="Arial"/>
              </a:rPr>
              <a:t>Adds keyphrases, classification, a summary -- at a time cost.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41264" y="3447288"/>
            <a:ext cx="370332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A343A"/>
                </a:solidFill>
                <a:latin typeface="Arial"/>
              </a:rPr>
              <a:t>30.4s avg on GPU, 1.4x faster than CPU's 41.7s; 3 models resident in sequence.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74352" y="3145536"/>
            <a:ext cx="438912" cy="0"/>
          </a:xfrm>
          <a:prstGeom prst="line">
            <a:avLst/>
          </a:prstGeom>
          <a:ln w="25400">
            <a:solidFill>
              <a:srgbClr val="E817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168128" y="2331720"/>
            <a:ext cx="1408176" cy="1618488"/>
          </a:xfrm>
          <a:prstGeom prst="roundRect">
            <a:avLst>
              <a:gd name="adj" fmla="val 8000"/>
            </a:avLst>
          </a:prstGeom>
          <a:solidFill>
            <a:srgbClr val="209165"/>
          </a:solidFill>
          <a:ln>
            <a:solidFill>
              <a:srgbClr val="2091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87000" y="2615184"/>
            <a:ext cx="1170432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YOUR CONCLUSION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3136392"/>
            <a:ext cx="1170432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Arial"/>
              </a:rPr>
              <a:t>GPU helps, doesn't close the gap.</a:t>
            </a:r>
            <a:br/>
            <a: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17904" y="4983480"/>
            <a:ext cx="9162288" cy="731520"/>
          </a:xfrm>
          <a:prstGeom prst="roundRect">
            <a:avLst>
              <a:gd name="adj" fmla="val 8000"/>
            </a:avLst>
          </a:prstGeom>
          <a:solidFill>
            <a:srgbClr val="2A1E23"/>
          </a:solidFill>
          <a:ln>
            <a:solidFill>
              <a:srgbClr val="2A1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10512" y="5184648"/>
            <a:ext cx="8577072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16459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B0142B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142B"/>
                </a:solidFill>
                <a:latin typeface="Arial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94944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A1E23"/>
                </a:solidFill>
                <a:latin typeface="Arial"/>
              </a:rPr>
              <a:t>What would you test or improve next?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508760" cy="350701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1069848" y="2057400"/>
            <a:ext cx="10067544" cy="0"/>
          </a:xfrm>
          <a:prstGeom prst="line">
            <a:avLst/>
          </a:prstGeom>
          <a:ln w="25400">
            <a:solidFill>
              <a:srgbClr val="E817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591056" y="1783080"/>
            <a:ext cx="548640" cy="548640"/>
          </a:xfrm>
          <a:prstGeom prst="ellipse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81328"/>
            <a:ext cx="1444752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E8173D"/>
                </a:solidFill>
                <a:latin typeface="Arial"/>
              </a:rPr>
              <a:t>Confirm Denzel's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42032"/>
            <a:ext cx="2441448" cy="216712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1E23"/>
                </a:solidFill>
                <a:latin typeface="Arial"/>
              </a:rPr>
              <a:t>Confirm the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" y="3346704"/>
            <a:ext cx="475488" cy="45720"/>
          </a:xfrm>
          <a:prstGeom prst="rect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3547872"/>
            <a:ext cx="1920240" cy="6126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3A343A"/>
                </a:solidFill>
                <a:latin typeface="Arial"/>
              </a:rPr>
              <a:t>Denzel's config points to LFM2.5-1.2B; the brief states Gemma 4 E4B -- unresolved.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4315968"/>
            <a:ext cx="1920240" cy="256032"/>
          </a:xfrm>
          <a:prstGeom prst="roundRect">
            <a:avLst>
              <a:gd name="adj" fmla="val 8000"/>
            </a:avLst>
          </a:prstGeom>
          <a:solidFill>
            <a:srgbClr val="FFEBEF"/>
          </a:solidFill>
          <a:ln>
            <a:solidFill>
              <a:srgbClr val="FF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E8173D"/>
                </a:solidFill>
                <a:latin typeface="Arial"/>
              </a:rPr>
              <a:t>Lock identity before final numbers</a:t>
            </a:r>
          </a:p>
        </p:txBody>
      </p:sp>
      <p:sp>
        <p:nvSpPr>
          <p:cNvPr id="13" name="Oval 12"/>
          <p:cNvSpPr/>
          <p:nvPr/>
        </p:nvSpPr>
        <p:spPr>
          <a:xfrm>
            <a:off x="4453128" y="1783080"/>
            <a:ext cx="548640" cy="548640"/>
          </a:xfrm>
          <a:prstGeom prst="ellipse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5072" y="1481328"/>
            <a:ext cx="1444752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E8173D"/>
                </a:solidFill>
                <a:latin typeface="Arial"/>
              </a:rPr>
              <a:t>Server CPU scaling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2152" y="2542032"/>
            <a:ext cx="2441448" cy="216712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58184" y="283464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1E23"/>
                </a:solidFill>
                <a:latin typeface="Arial"/>
              </a:rPr>
              <a:t>Thread-scale on servers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58184" y="3346704"/>
            <a:ext cx="475488" cy="45720"/>
          </a:xfrm>
          <a:prstGeom prst="rect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58184" y="3547872"/>
            <a:ext cx="1920240" cy="6126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3A343A"/>
                </a:solidFill>
                <a:latin typeface="Arial"/>
              </a:rPr>
              <a:t>Thread sweep (1/2/4/6/12) needs Xeon or i9 hardware, not available on this 6-core box.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58184" y="4315968"/>
            <a:ext cx="1920240" cy="256032"/>
          </a:xfrm>
          <a:prstGeom prst="roundRect">
            <a:avLst>
              <a:gd name="adj" fmla="val 8000"/>
            </a:avLst>
          </a:prstGeom>
          <a:solidFill>
            <a:srgbClr val="FFEBEF"/>
          </a:solidFill>
          <a:ln>
            <a:solidFill>
              <a:srgbClr val="FF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E8173D"/>
                </a:solidFill>
                <a:latin typeface="Arial"/>
              </a:rPr>
              <a:t>A measured claim, not a guess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0" y="1783080"/>
            <a:ext cx="548640" cy="548640"/>
          </a:xfrm>
          <a:prstGeom prst="ellipse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1481328"/>
            <a:ext cx="1444752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E8173D"/>
                </a:solidFill>
                <a:latin typeface="Arial"/>
              </a:rPr>
              <a:t>Fix ONNX regressions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64224" y="2542032"/>
            <a:ext cx="2441448" cy="216712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0256" y="283464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1E23"/>
                </a:solidFill>
                <a:latin typeface="Arial"/>
              </a:rPr>
              <a:t>SecureBERT int8 fix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0256" y="3346704"/>
            <a:ext cx="475488" cy="45720"/>
          </a:xfrm>
          <a:prstGeom prst="rect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20256" y="3547872"/>
            <a:ext cx="1920240" cy="6126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3A343A"/>
                </a:solidFill>
                <a:latin typeface="Arial"/>
              </a:rPr>
              <a:t>0.74 cosine similarity (need &gt;=0.99); ONNX zero-shot flipped 2/9 labels, +286.6s.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0256" y="4315968"/>
            <a:ext cx="1920240" cy="256032"/>
          </a:xfrm>
          <a:prstGeom prst="roundRect">
            <a:avLst>
              <a:gd name="adj" fmla="val 8000"/>
            </a:avLst>
          </a:prstGeom>
          <a:solidFill>
            <a:srgbClr val="FFEBEF"/>
          </a:solidFill>
          <a:ln>
            <a:solidFill>
              <a:srgbClr val="FF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E8173D"/>
                </a:solidFill>
                <a:latin typeface="Arial"/>
              </a:rPr>
              <a:t>Root cause not yet isolated</a:t>
            </a:r>
          </a:p>
        </p:txBody>
      </p:sp>
      <p:sp>
        <p:nvSpPr>
          <p:cNvPr id="27" name="Oval 26"/>
          <p:cNvSpPr/>
          <p:nvPr/>
        </p:nvSpPr>
        <p:spPr>
          <a:xfrm>
            <a:off x="10177272" y="1783080"/>
            <a:ext cx="548640" cy="548640"/>
          </a:xfrm>
          <a:prstGeom prst="ellipse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9216" y="1481328"/>
            <a:ext cx="1444752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E8173D"/>
                </a:solidFill>
                <a:latin typeface="Arial"/>
              </a:rPr>
              <a:t>Fix extraction artifact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26296" y="2542032"/>
            <a:ext cx="2441448" cy="2167128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82328" y="283464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1E23"/>
                </a:solidFill>
                <a:latin typeface="Arial"/>
              </a:rPr>
              <a:t>Word-gluing bug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82328" y="3346704"/>
            <a:ext cx="475488" cy="45720"/>
          </a:xfrm>
          <a:prstGeom prst="rect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82328" y="3547872"/>
            <a:ext cx="1920240" cy="6126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3A343A"/>
                </a:solidFill>
                <a:latin typeface="Arial"/>
              </a:rPr>
              <a:t>PyMuPDF glues words together on some layouts, affecting 6/9 accepted documents.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82328" y="4315968"/>
            <a:ext cx="1920240" cy="256032"/>
          </a:xfrm>
          <a:prstGeom prst="roundRect">
            <a:avLst>
              <a:gd name="adj" fmla="val 8000"/>
            </a:avLst>
          </a:prstGeom>
          <a:solidFill>
            <a:srgbClr val="FFEBEF"/>
          </a:solidFill>
          <a:ln>
            <a:solidFill>
              <a:srgbClr val="FF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E8173D"/>
                </a:solidFill>
                <a:latin typeface="Arial"/>
              </a:rPr>
              <a:t>Not a segmentation bug; fix upstream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" y="5230368"/>
            <a:ext cx="10963656" cy="676656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>
            <a:solidFill>
              <a:srgbClr val="F7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0392" y="5413248"/>
            <a:ext cx="1048816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A1E23"/>
                </a:solidFill>
                <a:latin typeface="Arial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16459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B0142B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557784"/>
            <a:ext cx="2761488" cy="587817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444752" y="859536"/>
            <a:ext cx="146304" cy="146304"/>
          </a:xfrm>
          <a:prstGeom prst="ellipse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5727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Arial"/>
              </a:rPr>
              <a:t>Summarise your findings and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779776"/>
            <a:ext cx="8439912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D2C6C9"/>
                </a:solidFill>
                <a:latin typeface="Arial"/>
              </a:rPr>
              <a:t>Speed, quality, and where each pipeline earns its place.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3858768"/>
            <a:ext cx="2935224" cy="1243584"/>
          </a:xfrm>
          <a:prstGeom prst="roundRect">
            <a:avLst>
              <a:gd name="adj" fmla="val 8000"/>
            </a:avLst>
          </a:prstGeom>
          <a:solidFill>
            <a:srgbClr val="30242A"/>
          </a:solidFill>
          <a:ln>
            <a:solidFill>
              <a:srgbClr val="463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27048" y="4096512"/>
            <a:ext cx="384048" cy="384048"/>
          </a:xfrm>
          <a:prstGeom prst="ellipse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8256" y="4041648"/>
            <a:ext cx="1947672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8256" y="4425696"/>
            <a:ext cx="194767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D2C6C9"/>
                </a:solidFill>
                <a:latin typeface="Arial"/>
              </a:rPr>
              <a:t>GPU is 1.4x faster than CPU, but both stay 6-9x slower than Denzel (n=5).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36592" y="3858768"/>
            <a:ext cx="2935224" cy="1243584"/>
          </a:xfrm>
          <a:prstGeom prst="roundRect">
            <a:avLst>
              <a:gd name="adj" fmla="val 8000"/>
            </a:avLst>
          </a:prstGeom>
          <a:solidFill>
            <a:srgbClr val="30242A"/>
          </a:solidFill>
          <a:ln>
            <a:solidFill>
              <a:srgbClr val="463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937759" y="4096512"/>
            <a:ext cx="384048" cy="384048"/>
          </a:xfrm>
          <a:prstGeom prst="ellipse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8" y="4041648"/>
            <a:ext cx="1947672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Trade-off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58968" y="4425696"/>
            <a:ext cx="194767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D2C6C9"/>
                </a:solidFill>
                <a:latin typeface="Arial"/>
              </a:rPr>
              <a:t>6.3x-8.6x slower than one LLM call; quality barely moves, page-1 vs. full-doc (1/9 flip).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3858768"/>
            <a:ext cx="2935224" cy="1243584"/>
          </a:xfrm>
          <a:prstGeom prst="roundRect">
            <a:avLst>
              <a:gd name="adj" fmla="val 8000"/>
            </a:avLst>
          </a:prstGeom>
          <a:solidFill>
            <a:srgbClr val="30242A"/>
          </a:solidFill>
          <a:ln>
            <a:solidFill>
              <a:srgbClr val="463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48472" y="4096512"/>
            <a:ext cx="384048" cy="384048"/>
          </a:xfrm>
          <a:prstGeom prst="ellipse">
            <a:avLst/>
          </a:prstGeom>
          <a:solidFill>
            <a:srgbClr val="E8173D"/>
          </a:solidFill>
          <a:ln>
            <a:solidFill>
              <a:srgbClr val="E81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4041648"/>
            <a:ext cx="1947672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Recommendation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425696"/>
            <a:ext cx="194767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D2C6C9"/>
                </a:solidFill>
                <a:latin typeface="Arial"/>
              </a:rPr>
              <a:t>Encoders on GPU, LLM on CPU (4GB VRAM fit); confirm Denzel's model first.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6016752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AD9DA2"/>
                </a:solidFill>
                <a:latin typeface="Arial"/>
              </a:rPr>
              <a:t>Amaris.AI   ·   Transforming Enterprises with Trustworthy AI   ·   Singapore   ·   www.amaris.ai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16459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B0142B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946</Words>
  <Application>Microsoft Office PowerPoint</Application>
  <PresentationFormat>Widescreen</PresentationFormat>
  <Paragraphs>174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Denzel Low</cp:lastModifiedBy>
  <cp:revision>20</cp:revision>
  <dcterms:created xsi:type="dcterms:W3CDTF">2013-01-27T09:14:16Z</dcterms:created>
  <dcterms:modified xsi:type="dcterms:W3CDTF">2026-09-03T03:17:50Z</dcterms:modified>
  <cp:category/>
</cp:coreProperties>
</file>